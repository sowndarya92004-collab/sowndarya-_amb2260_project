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74" r:id="rId11"/>
    <p:sldId id="265" r:id="rId12"/>
    <p:sldId id="266" r:id="rId13"/>
    <p:sldId id="270" r:id="rId14"/>
    <p:sldId id="271" r:id="rId15"/>
    <p:sldId id="272" r:id="rId16"/>
    <p:sldId id="273" r:id="rId17"/>
    <p:sldId id="267" r:id="rId18"/>
    <p:sldId id="268" r:id="rId19"/>
    <p:sldId id="269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385" y="3145155"/>
            <a:ext cx="6972935" cy="1367155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Prediction using  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Machine Learning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(Finger Millet)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48955" y="4307840"/>
            <a:ext cx="3496310" cy="3267710"/>
          </a:xfrm>
        </p:spPr>
        <p:txBody>
          <a:bodyPr>
            <a:noAutofit/>
          </a:bodyPr>
          <a:lstStyle/>
          <a:p>
            <a:pPr algn="l"/>
            <a:endParaRPr lang="en-IN" dirty="0"/>
          </a:p>
          <a:p>
            <a:pPr algn="l"/>
            <a:r>
              <a:rPr lang="en-IN" sz="1600" b="1" dirty="0"/>
              <a:t>Submitted to: Dr. Sailaja Thota, Course Teacher (EAI421)</a:t>
            </a:r>
            <a:endParaRPr lang="en-IN" sz="1600" b="1" dirty="0"/>
          </a:p>
          <a:p>
            <a:pPr algn="l">
              <a:lnSpc>
                <a:spcPct val="90000"/>
              </a:lnSpc>
            </a:pPr>
            <a:r>
              <a:rPr lang="en-IN" sz="1600" dirty="0"/>
              <a:t>Sahana.A (AMB2216) | </a:t>
            </a:r>
            <a:endParaRPr lang="en-IN" sz="1600" dirty="0"/>
          </a:p>
          <a:p>
            <a:pPr algn="l">
              <a:lnSpc>
                <a:spcPct val="90000"/>
              </a:lnSpc>
            </a:pPr>
            <a:r>
              <a:rPr lang="en-IN" sz="1600" dirty="0"/>
              <a:t>Sowndarya.M (AMB2260) | Raveesh.R (AMB2210)</a:t>
            </a:r>
            <a:endParaRPr lang="en-IN" sz="1600" dirty="0"/>
          </a:p>
          <a:p>
            <a:pPr algn="l"/>
            <a:r>
              <a:rPr lang="en-IN" sz="1600" dirty="0"/>
              <a:t>IV B.Sc.(Hons.) Agriculture, COA, GKVK, Bangalore | 2025-2026</a:t>
            </a:r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012280" y="491364"/>
            <a:ext cx="729343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 fontScale="85000" lnSpcReduction="20000"/>
          </a:bodyPr>
          <a:lstStyle/>
          <a:p>
            <a:endParaRPr lang="en-IN"/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Methodlogy/approach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References/Acknowledgements</a:t>
            </a:r>
            <a:endParaRPr lang="en-IN" sz="3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the backbone of food security — India's farming sector supports 55%+ of the workforce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Finger Millet (Ragi) is a key cereal in Karnataka, Tamil Nadu, Andhra Pradesh and Odisha, valued for calcium, fibre and amino acids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Yield is strongly influenced by soil nutrients (NPK), rainfall and temperature — but traditional estimation is slow and costly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regression models can extract patterns from agronomic and climatic data for near-real-time yield prediction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and compares three ML regression models: Multiple Linear Regression, Decision Tree, and Random Forest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the problem addressed in this project is: 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Given historical data on soil</a:t>
            </a:r>
            <a:r>
              <a:rPr lang="en-I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nutrient levels (Nitrogen, Phosphate, and Potash per hectare), average annual rainfall,</a:t>
            </a:r>
            <a:r>
              <a:rPr lang="en-I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temperature, and average precipitation for a given region, 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can a machine</a:t>
            </a:r>
            <a:r>
              <a:rPr lang="en-I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model accurately predict the Finger Millet yield (in Kg per hectare</a:t>
            </a:r>
            <a:r>
              <a:rPr lang="en-I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2125"/>
            <a:ext cx="10515600" cy="713740"/>
          </a:xfrm>
        </p:spPr>
        <p:txBody>
          <a:bodyPr>
            <a:no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15" y="1307465"/>
            <a:ext cx="11475085" cy="49911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Security: Finger Millet is a staple for millions in South India and sub-Saharan Africa — accurate prediction prevents food shortages and supports timely government interventions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Farmer Welfare: Smallholders often over/under-apply fertilisers — a predictive model optimises NPK inputs, reducing costs and environmental impact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Climate Resilience: Understanding how rainfall and temperature affect yield helps develop adaptive farming strategies amid climate variability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Academic Application: EAI421 course knowledge applied to a real-world agricultural problem using supervised ML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The pipeline can be extended to other crops (rice, wheat, maize) — broadly applicable across Indian agriculture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331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4797425"/>
          </a:xfrm>
        </p:spPr>
        <p:txBody>
          <a:bodyPr>
            <a:normAutofit fontScale="90000"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 Develop an ML regression system to predict Finger Millet yield (Kg/ha) and identify the best-performing model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Collect, clean, and preprocess the Finger Millet dataset (Filtered_Crop_Data_v2.csv) for machine learning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Multiple Linear Regression as a baseline model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Decision Tree Regression and analyse its decision splits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Random Forest Regression and perform hyperparameter tuning with GridSearchCV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charts and scatter plots; derive actionable precision agriculture insights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Evaluate all three models using MAE, MSE, RMSE, and R² Score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Visualise performance via bar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Dataset: Filtered_Crop_Data_v2.csv — historical Finger Millet cultivation records across multiple Indian states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 numerical input features: Phosphate/ha, Nitrogen/ha, Potash/ha, Average Rainfall (mm), Average Temperature (°C), Average Precipitation (mm)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Finger Millet Yield (Kg per hectare) — continuous numerical output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Dropped non-numeric 'State Name' column; defined feature matrix X and target vector 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80% training / 20% testing with random_state=42 for reproducibility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2020"/>
          </a:xfrm>
        </p:spPr>
        <p:txBody>
          <a:bodyPr>
            <a:normAutofit fontScale="8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1 — Data Loading: Load CSV using Pandas; inspect shape, dtypes, and first rows with df.head()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2 — Preprocessing: Drop State Name column; define X (6 features) and y (Finger Millet Yield); apply 80/20 train-test split (random_state=42)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3 — Model 1 (Baseline): Multiple Linear Regression using sklearn LinearRegression() with default parameters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4 — Model 2: Decision Tree Regression (DecisionTreeRegressor, min_samples_split=30, random_state=42)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5 — Model 3: Random Forest — base model (100 trees), then hyperparameter tuning via GridSearchCV (n_estimators, max_features, min_samples_leaf, min_samples_split; 5-fold CV)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6 — Evaluation: Compare all models on test set using MAE, MSE, RMSE, and R2 Score; visualise with bar charts and scatter plots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620" y="0"/>
            <a:ext cx="4789805" cy="583438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345305" y="5956300"/>
            <a:ext cx="5324475" cy="570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Table 1.0-METHODOLOGY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65" y="1691005"/>
            <a:ext cx="10607675" cy="4869180"/>
          </a:xfrm>
        </p:spPr>
        <p:txBody>
          <a:bodyPr>
            <a:normAutofit fontScale="90000"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3.10+ — primary language for data processing and ML model implementation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Jupyter Notebook / VS Code with Anaconda distribution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Libraries: Pandas (data loading, preprocessing, DataFrame ops) | NumPy (numerical computation)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ML Library: Scikit-learn 1.2+ — LinearRegression, DecisionTreeRegressor, RandomForestRegressor, GridSearchCV, train_test_split, MAE/MSE/RMSE/R² metrics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Visualisation: Matplotlib 3.6+ (bar charts, scatter plots) | Seaborn 0.12+ (enhanced statistical barplots)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Tree Visualisation: sklearn plot_tree() — used to visualise Decision Tree structure and feature split logic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66979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Regression: MAE = 312.4 Kg/ha | RMSE = 422.5 Kg/ha | R2 = 0.61 (moderate; linear assumptions insufficient for complex interactions)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Regression: MAE = 248.7 Kg/ha | RMSE = 363.6 Kg/ha | R2 = 0.71 (root split on Average Rainfall — agronomically intuitive)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Tuned Random Forest (Best Model): MAE = 189.3 Kg/ha | RMSE = 295.8 Kg/ha | R2 = 0.81 (GridSearchCV over n_estimators, max_features, min_samples_leaf)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Tuned RF reduced MAE by 39.4% vs MLR and 23.9% vs Decision Tree — clear superiority of ensemble methods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Actual vs. Predicted scatter plot shows predictions tightly clustered around the perfect prediction line, with slight scatter at extreme yield values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1" y="576262"/>
            <a:ext cx="10918031" cy="6186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254381"/>
            <a:ext cx="11058001" cy="63492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7650"/>
            <a:ext cx="11155597" cy="67294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43" y="0"/>
            <a:ext cx="91483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870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5120"/>
            <a:ext cx="10515600" cy="4858385"/>
          </a:xfrm>
        </p:spPr>
        <p:txBody>
          <a:bodyPr>
            <a:normAutofit fontScale="90000"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MLR R²=0.61 confirms non-linear feature interactions — rainfall and NPK interact in ways a linear model cannot capture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root split on Average Rainfall aligns with agronomy: rainfall is the dominant driver of Finger Millet yield, followed by N and K levels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ensemble averaging reduces variance — GridSearchCV tuning further improved generalisation over the base RF model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Best R²=0.81 means ~19% of yield variance remains unexplained — missing features: soil pH, organic matter, irrigation, crop variety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Challenge: Moderate scatter at higher yield values in Fig 6 — a common issue in ensemble regression at extremes; addressable with more data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Impact: This pipeline provides farmers and extension workers an interpretable, data-driven tool to estimate Finger Millet yield and optimise NPK inputs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363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120"/>
            <a:ext cx="10515600" cy="4927600"/>
          </a:xfrm>
        </p:spPr>
        <p:txBody>
          <a:bodyPr>
            <a:normAutofit fontScale="90000"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Hyperparameter-Tuned Random Forest achieved the best performance: R²=0.81, MAE=189.3 Kg/ha — outperforming Decision Tree (R²=0.71) and MLR (R²=0.61)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 with systematic hyperparameter tuning are well-suited for structured agricultural tabular regression tasks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reproducible ML pipeline (preprocessing → training → evaluation → visualisation) can be adapted to other crops and regions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Add features (soil pH, organic matter, irrigation, variety) to push R² beyond 0.81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Explore XGBoost, LightGBM, Gradient Boosting and LSTM deep learning for time-series yield prediction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Develop a web/mobile application for real-time yield prediction; explore federated learning for privacy-preserving district-level collaboration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695"/>
            <a:ext cx="10515600" cy="119951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845"/>
            <a:ext cx="10515600" cy="5003800"/>
          </a:xfrm>
        </p:spPr>
        <p:txBody>
          <a:bodyPr>
            <a:normAutofit fontScale="90000"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Pantazi et al. (2016) — SVM &amp; Neural Networks for crop yield, Computers and Electronics in Agriculture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Breiman (2001) — Random Forests, Machine Learning, 45(1), 5-32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Pudumalar et al. (2017) — Crop recommendation ensemble, CCWC IEEE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Doshi et al. (2018) — AgroConsultant fertiliser recommendation, ICCUBEA IEEE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Kumar et al. (2024) — LSTM &amp; Transformer for Indian crop yield, Comp. &amp; Electronics in Agriculture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Sharma &amp; Patel (2024) — XGBoost for Ragi yield in Karnataka, Smart Agricultural Technology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Reddy et al. (2025) — Federated learning for crop yield, Precision Agriculture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Dataset: Filtered_Crop_Data_v2.csv | Acknowledgements: Dr. Sailaja Thota, Dept. of Agricultural Statistics, COA GKVK Bangalore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080" y="748665"/>
            <a:ext cx="10457180" cy="4850130"/>
          </a:xfrm>
        </p:spPr>
        <p:txBody>
          <a:bodyPr>
            <a:noAutofit/>
          </a:bodyPr>
          <a:p>
            <a:r>
              <a:rPr lang="en-US" sz="8000" b="1">
                <a:solidFill>
                  <a:schemeClr val="tx1"/>
                </a:solidFill>
              </a:rPr>
              <a:t>        </a:t>
            </a:r>
            <a:r>
              <a:rPr lang="en-US" sz="8800" b="1">
                <a:solidFill>
                  <a:schemeClr val="tx1"/>
                </a:solidFill>
              </a:rPr>
              <a:t>THANK YOU</a:t>
            </a:r>
            <a:endParaRPr lang="en-US" sz="8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7947</Words>
  <Application>WPS Presentation</Application>
  <PresentationFormat>Widescreen</PresentationFormat>
  <Paragraphs>126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Algerian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   Crop Yield Prediction using        Machine Learning (Finger Millet)</vt:lpstr>
      <vt:lpstr>Content</vt:lpstr>
      <vt:lpstr>Introduction</vt:lpstr>
      <vt:lpstr>Problem Statement</vt:lpstr>
      <vt:lpstr>Motivation </vt:lpstr>
      <vt:lpstr>Objectives of the Project</vt:lpstr>
      <vt:lpstr>Dataset Overview</vt:lpstr>
      <vt:lpstr>Methodology / Approach</vt:lpstr>
      <vt:lpstr>PowerPoint 演示文稿</vt:lpstr>
      <vt:lpstr>Tools and Technologies Used</vt:lpstr>
      <vt:lpstr>Results</vt:lpstr>
      <vt:lpstr>PowerPoint 演示文稿</vt:lpstr>
      <vt:lpstr>PowerPoint 演示文稿</vt:lpstr>
      <vt:lpstr>PowerPoint 演示文稿</vt:lpstr>
      <vt:lpstr>PowerPoint 演示文稿</vt:lpstr>
      <vt:lpstr>Discussion / Analysis</vt:lpstr>
      <vt:lpstr>Conclusion and Future Work</vt:lpstr>
      <vt:lpstr>References / Acknowledgements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Crop Yield Prediction using        Machine Learning (Finger Millet)</dc:title>
  <dc:creator>PRABHURAJ METIPATIL</dc:creator>
  <cp:lastModifiedBy>ankit</cp:lastModifiedBy>
  <cp:revision>12</cp:revision>
  <dcterms:created xsi:type="dcterms:W3CDTF">2026-04-07T05:30:00Z</dcterms:created>
  <dcterms:modified xsi:type="dcterms:W3CDTF">2026-04-15T17:32:58Z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56B759DF3CB34BFCB9899579F9264F6A_13</vt:lpwstr>
  </property>
</Properties>
</file>